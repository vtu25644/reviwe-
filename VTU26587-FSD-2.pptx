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63" r:id="rId10"/>
    <p:sldId id="264" r:id="rId11"/>
    <p:sldId id="266" r:id="rId12"/>
    <p:sldId id="267" r:id="rId13"/>
    <p:sldId id="273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8"/>
      <p:bold r:id="rId19"/>
      <p:italic r:id="rId20"/>
      <p:boldItalic r:id="rId21"/>
    </p:embeddedFont>
    <p:embeddedFont>
      <p:font typeface="Cambria" panose="02040503050406030204" pitchFamily="18" charset="0"/>
      <p:regular r:id="rId22"/>
      <p:bold r:id="rId23"/>
      <p:italic r:id="rId24"/>
      <p:boldItalic r:id="rId25"/>
    </p:embeddedFont>
    <p:embeddedFont>
      <p:font typeface="Gotham" panose="020B0604020202020204" charset="0"/>
      <p:regular r:id="rId26"/>
    </p:embeddedFont>
    <p:embeddedFont>
      <p:font typeface="Gotham Bold Italics" panose="020B0604020202020204" charset="0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B734B0-6311-4AC9-BADF-24B2FAA3B986}" v="17" dt="2026-04-20T03:32:54.228"/>
    <p1510:client id="{E7E17A9E-E222-4450-8888-CEDA9A9E082E}" v="277" dt="2026-04-20T02:43:47.3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52" d="100"/>
          <a:sy n="52" d="100"/>
        </p:scale>
        <p:origin x="130" y="384"/>
      </p:cViewPr>
      <p:guideLst>
        <p:guide orient="horz" pos="209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27757" y="3897940"/>
            <a:ext cx="11190289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2</a:t>
            </a:r>
          </a:p>
          <a:p>
            <a:pPr algn="ctr"/>
            <a:endParaRPr lang="en-IN" sz="32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</a:t>
            </a:r>
            <a:r>
              <a:rPr lang="en-US" altLang="en-I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20-04-2026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870" y="7800539"/>
            <a:ext cx="9067800" cy="135370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/>
                <a:ea typeface="Cambria"/>
                <a:cs typeface="Times New Roman"/>
              </a:rPr>
              <a:t>C.SAHASRA– VTU25644 – Reg .No . 23UECS1044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45035" y="7818586"/>
            <a:ext cx="6914603" cy="2084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>
                <a:ea typeface="+mn-lt"/>
                <a:cs typeface="+mn-lt"/>
              </a:rPr>
              <a:t>Dr-Hafizur Rahman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 altLang="en-US" sz="3000">
                <a:latin typeface="Cambria"/>
                <a:ea typeface="Cambria"/>
              </a:rPr>
              <a:t>Assistant Professor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09800" y="6896100"/>
            <a:ext cx="147431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4 – Quality 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256785" y="5586735"/>
            <a:ext cx="12649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52400" y="5715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33600" y="1943100"/>
            <a:ext cx="15413990" cy="74798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800">
                <a:latin typeface="Times New Roman"/>
                <a:ea typeface="Calibri"/>
                <a:cs typeface="Times New Roman"/>
              </a:rPr>
              <a:t>In</a:t>
            </a:r>
            <a:r>
              <a:rPr lang="en-US" sz="2800">
                <a:latin typeface="Times New Roman"/>
                <a:ea typeface="+mn-lt"/>
                <a:cs typeface="Times New Roman"/>
              </a:rPr>
              <a:t> many colleges and organizations, event management is still handled manually through calls, messages, and spreadsheets.</a:t>
            </a:r>
          </a:p>
          <a:p>
            <a:pPr marL="457200" indent="-4572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/>
                <a:cs typeface="Times New Roman"/>
              </a:rPr>
              <a:t>This often leads to missed updates, confusion in scheduling, and poor participant management.</a:t>
            </a:r>
          </a:p>
          <a:p>
            <a:pPr marL="457200" indent="-4572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800">
                <a:latin typeface="Times New Roman"/>
                <a:ea typeface="+mn-lt"/>
                <a:cs typeface="Times New Roman"/>
              </a:rPr>
              <a:t>To solve these issues, we developed a </a:t>
            </a:r>
            <a:r>
              <a:rPr lang="en-US" sz="2800" b="1">
                <a:latin typeface="Times New Roman"/>
                <a:ea typeface="+mn-lt"/>
                <a:cs typeface="Times New Roman"/>
              </a:rPr>
              <a:t>Smart Campus Event Management System</a:t>
            </a:r>
            <a:r>
              <a:rPr lang="en-US" sz="2800">
                <a:latin typeface="Times New Roman"/>
                <a:ea typeface="+mn-lt"/>
                <a:cs typeface="Times New Roman"/>
              </a:rPr>
              <a:t>, which provides a centralized platform for managing events efficiently.</a:t>
            </a:r>
            <a:endParaRPr lang="en-US" altLang="en-US" sz="2800">
              <a:latin typeface="Times New Roman"/>
              <a:cs typeface="Times New Roman"/>
            </a:endParaRPr>
          </a:p>
          <a:p>
            <a:pPr marL="457200" indent="-4572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/>
                <a:cs typeface="Times New Roman"/>
              </a:rPr>
              <a:t>The system allows admin to create and edit events.</a:t>
            </a:r>
          </a:p>
          <a:p>
            <a:pPr marL="457200" indent="-4572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Students can browse a live feed of events and register with just one click</a:t>
            </a:r>
            <a:r>
              <a:rPr lang="en-US" dirty="0">
                <a:latin typeface="Times New Roman"/>
                <a:cs typeface="Times New Roman"/>
              </a:rPr>
              <a:t>.</a:t>
            </a:r>
            <a:endParaRPr lang="en-US" altLang="en-US" sz="2800">
              <a:latin typeface="Times New Roman"/>
              <a:cs typeface="Times New Roman"/>
            </a:endParaRPr>
          </a:p>
          <a:p>
            <a:pPr marL="457200" indent="-4572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/>
                <a:cs typeface="Times New Roman"/>
              </a:rPr>
              <a:t>Overall, it is a modern platform designed to improve event planning, coordination, and communication.</a:t>
            </a:r>
            <a:endParaRPr lang="en-US" sz="2800">
              <a:latin typeface="Times New Roman"/>
              <a:cs typeface="Times New Roman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866900"/>
            <a:ext cx="15082325" cy="62519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>
                <a:latin typeface="Times New Roman"/>
                <a:ea typeface="+mn-lt"/>
                <a:cs typeface="Times New Roman"/>
              </a:rPr>
              <a:t>The existing system has several challenges that affect efficiency and accuracy.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/>
                <a:cs typeface="Times New Roman"/>
              </a:rPr>
              <a:t>Students lack a centralized digital dashboard to track their personal registration history and schedules.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>
                <a:latin typeface="Times New Roman"/>
                <a:ea typeface="+mn-lt"/>
                <a:cs typeface="Times New Roman"/>
              </a:rPr>
              <a:t>Manual registration increases workload and leads to frequent data entry mistakes.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>
                <a:latin typeface="Times New Roman"/>
                <a:ea typeface="+mn-lt"/>
                <a:cs typeface="Times New Roman"/>
              </a:rPr>
              <a:t>Also, communication about schedule changes is slow and sometimes does not reach all participants.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800">
                <a:latin typeface="Times New Roman"/>
                <a:ea typeface="+mn-lt"/>
                <a:cs typeface="Times New Roman"/>
              </a:rPr>
              <a:t>There is no proper system to analyze event participation or generate quick reports.</a:t>
            </a:r>
            <a:endParaRPr lang="en-US" sz="2800">
              <a:latin typeface="Times New Roman"/>
              <a:ea typeface="Calibri"/>
              <a:cs typeface="Times New Roman"/>
            </a:endParaRP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/>
                <a:cs typeface="Times New Roman"/>
              </a:rPr>
              <a:t>Manual data management prevents the institution from generating fast and accurate attendance reports.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/>
                <a:cs typeface="Times New Roman"/>
              </a:rPr>
              <a:t>Existing methods lack the automation required to ensure a reliable and streamlined event management experience.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152400" y="548640"/>
            <a:ext cx="17907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/>
          <p:cNvSpPr txBox="1"/>
          <p:nvPr/>
        </p:nvSpPr>
        <p:spPr>
          <a:xfrm>
            <a:off x="2176780" y="2628900"/>
            <a:ext cx="15082325" cy="77990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600">
                <a:latin typeface="Times New Roman"/>
                <a:ea typeface="Calibri"/>
                <a:cs typeface="Times New Roman"/>
              </a:rPr>
              <a:t>The main objective of this project is to design a </a:t>
            </a:r>
            <a:r>
              <a:rPr lang="en-US" sz="3600" b="1">
                <a:latin typeface="Times New Roman"/>
                <a:ea typeface="Calibri"/>
                <a:cs typeface="Times New Roman"/>
              </a:rPr>
              <a:t>centralized and automated system</a:t>
            </a:r>
            <a:r>
              <a:rPr lang="en-US" sz="3600" dirty="0">
                <a:latin typeface="Times New Roman"/>
                <a:ea typeface="Calibri"/>
                <a:cs typeface="Times New Roman"/>
              </a:rPr>
              <a:t> </a:t>
            </a:r>
            <a:r>
              <a:rPr lang="en-US" sz="3600">
                <a:latin typeface="Times New Roman"/>
                <a:ea typeface="Calibri"/>
                <a:cs typeface="Times New Roman"/>
              </a:rPr>
              <a:t>for event management</a:t>
            </a:r>
            <a:r>
              <a:rPr lang="en-US" altLang="en-US" sz="3600">
                <a:latin typeface="Times New Roman"/>
                <a:ea typeface="Calibri"/>
                <a:cs typeface="Times New Roman"/>
              </a:rPr>
              <a:t>.</a:t>
            </a:r>
            <a:endParaRPr lang="en-US" altLang="en-US" sz="3600" dirty="0">
              <a:latin typeface="Times New Roman"/>
              <a:cs typeface="Times New Roman"/>
            </a:endParaRPr>
          </a:p>
          <a:p>
            <a:pPr marL="457200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600">
                <a:latin typeface="Times New Roman"/>
                <a:ea typeface="Calibri"/>
                <a:cs typeface="Times New Roman"/>
              </a:rPr>
              <a:t>We aim to simplify event creation and registration processes while reducing manual work.</a:t>
            </a:r>
            <a:endParaRPr lang="en-US" altLang="en-US" sz="3600" dirty="0">
              <a:latin typeface="Times New Roman"/>
              <a:cs typeface="Times New Roman"/>
            </a:endParaRPr>
          </a:p>
          <a:p>
            <a:pPr marL="457200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3600" b="1" dirty="0">
                <a:latin typeface="Times New Roman"/>
                <a:cs typeface="Times New Roman"/>
              </a:rPr>
              <a:t>To implement</a:t>
            </a:r>
            <a:r>
              <a:rPr lang="en-US" altLang="en-US" sz="3600" dirty="0">
                <a:latin typeface="Times New Roman"/>
                <a:cs typeface="Times New Roman"/>
              </a:rPr>
              <a:t> a real-time analytics dashboard for monitoring student participation and improving overall administrative data accuracy.</a:t>
            </a:r>
            <a:endParaRPr lang="en-US" sz="3600" dirty="0">
              <a:latin typeface="Times New Roman"/>
              <a:ea typeface="Calibri"/>
              <a:cs typeface="Times New Roman"/>
            </a:endParaRPr>
          </a:p>
          <a:p>
            <a:pPr marL="457200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600">
                <a:latin typeface="Times New Roman"/>
                <a:ea typeface="Calibri"/>
                <a:cs typeface="Times New Roman"/>
              </a:rPr>
              <a:t>Another important goal is to provide real-time updates and analytical insights to improve decision-making.</a:t>
            </a:r>
            <a:endParaRPr lang="en-US" altLang="en-US" sz="3600" dirty="0">
              <a:latin typeface="Times New Roman"/>
              <a:cs typeface="Times New Roman"/>
            </a:endParaRPr>
          </a:p>
          <a:p>
            <a:pPr marL="457200" indent="-457200" algn="just">
              <a:buChar char="-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Char char="-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176780" y="1714500"/>
            <a:ext cx="15082325" cy="65556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ea typeface="+mn-lt"/>
                <a:cs typeface="+mn-lt"/>
              </a:rPr>
              <a:t>The proposed system is a </a:t>
            </a:r>
            <a:r>
              <a:rPr lang="en-US" sz="2800" b="1">
                <a:ea typeface="+mn-lt"/>
                <a:cs typeface="+mn-lt"/>
              </a:rPr>
              <a:t>web-based application</a:t>
            </a:r>
            <a:r>
              <a:rPr lang="en-US" sz="2800">
                <a:ea typeface="+mn-lt"/>
                <a:cs typeface="+mn-lt"/>
              </a:rPr>
              <a:t> that connects administrators and students on a single platform.</a:t>
            </a:r>
            <a:endParaRPr lang="en-US">
              <a:ea typeface="+mn-lt"/>
              <a:cs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ea typeface="+mn-lt"/>
                <a:cs typeface="+mn-lt"/>
              </a:rPr>
              <a:t>Admins can easily create, update, and manage events, while students can view and register for events instantly.</a:t>
            </a:r>
            <a:endParaRPr lang="en-US">
              <a:ea typeface="+mn-lt"/>
              <a:cs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/>
                <a:cs typeface="Times New Roman"/>
              </a:rPr>
              <a:t>By automating the registration process, it eliminates the need for manual paperwork and reduces human errors in participant tracking.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ea typeface="+mn-lt"/>
                <a:cs typeface="+mn-lt"/>
              </a:rPr>
              <a:t>The system also ensures faster communication through automated notifications and maintains all </a:t>
            </a:r>
            <a:r>
              <a:rPr lang="en-US" sz="2800">
                <a:ea typeface="+mn-lt"/>
                <a:cs typeface="+mn-lt"/>
              </a:rPr>
              <a:t>records securely.</a:t>
            </a:r>
            <a:endParaRPr lang="en-US">
              <a:ea typeface="+mn-lt"/>
              <a:cs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offers superior accessibility, allowing users to register for and manage events 24/7 from any device.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 storage ensures higher security and integrity of student records compared to manual spreadsheets.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/>
                <a:ea typeface="+mn-lt"/>
                <a:cs typeface="Times New Roman"/>
              </a:rPr>
              <a:t>Automated confirmation and notification systems significantly enhance the speed and reliability of campus-wide communication.</a:t>
            </a:r>
            <a:endParaRPr lang="en-US" altLang="en-US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2792710" y="-8988425"/>
            <a:ext cx="8933180" cy="931926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60"/>
              </a:lnSpc>
            </a:pPr>
            <a:endParaRPr/>
          </a:p>
        </p:txBody>
      </p:sp>
      <p:sp>
        <p:nvSpPr>
          <p:cNvPr id="4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Box 33"/>
          <p:cNvSpPr txBox="1"/>
          <p:nvPr/>
        </p:nvSpPr>
        <p:spPr>
          <a:xfrm>
            <a:off x="2515235" y="2103755"/>
            <a:ext cx="13952855" cy="26085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  <p:pic>
        <p:nvPicPr>
          <p:cNvPr id="2" name="Picture 1" descr="A diagram of a system&#10;&#10;AI-generated content may be incorrect.">
            <a:extLst>
              <a:ext uri="{FF2B5EF4-FFF2-40B4-BE49-F238E27FC236}">
                <a16:creationId xmlns:a16="http://schemas.microsoft.com/office/drawing/2014/main" id="{146C3B86-1605-15DC-1948-9D22FDDFC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2316" y="2097958"/>
            <a:ext cx="14851625" cy="68285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209800" y="1638300"/>
            <a:ext cx="15082325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42"/>
          <p:cNvSpPr txBox="1"/>
          <p:nvPr/>
        </p:nvSpPr>
        <p:spPr>
          <a:xfrm>
            <a:off x="2176780" y="2400300"/>
            <a:ext cx="15112365" cy="5955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data such as event details, participant invitations,  responses, and event updates are entered into the system.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processes the input by handling event creation, updating records, sending notifications, and synchronizing data in real time.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information related to users, events, participants, and status is stored securely in the database for quick access and management.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displays updated event information, participant status, instant notifications, and synchronized results to all users.</a:t>
            </a:r>
            <a:r>
              <a:rPr lang="en-US" alt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diagram of a workflow&#10;&#10;AI-generated content may be incorrect.">
            <a:extLst>
              <a:ext uri="{FF2B5EF4-FFF2-40B4-BE49-F238E27FC236}">
                <a16:creationId xmlns:a16="http://schemas.microsoft.com/office/drawing/2014/main" id="{6D48E34B-550E-C30F-3250-AA7A57C41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9057" y="1753827"/>
            <a:ext cx="11729884" cy="74553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982470"/>
            <a:ext cx="15082325" cy="4356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HTML5, CSS3, JavaScript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Java, Spring Boot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 Studio Code, Git, GitHub, Postman, Maven</a:t>
            </a:r>
          </a:p>
          <a:p>
            <a:pPr marL="457200" indent="-4572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Computer with minimum 4 GB RAM, dual-core processor, Node.js environment, modern web browser, and operating system such as Windows, Linux, or macOS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453532" y="1771524"/>
            <a:ext cx="15082325" cy="7416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Authentication and Management</a:t>
            </a:r>
          </a:p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student registration, login, secure authentication, and basic profile-related information for accessing the system.</a:t>
            </a:r>
          </a:p>
          <a:p>
            <a:pPr algn="just"/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Event Management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Admins can create new events, specifying date, time, venue, and descriptions.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Administrative Control Hub</a:t>
            </a:r>
          </a:p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administrators with tools to create, edit, or delete events and manage the comprehensive list of participant registrations.</a:t>
            </a:r>
          </a:p>
          <a:p>
            <a:pPr algn="just"/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Analytics &amp; Visual Reporting</a:t>
            </a:r>
          </a:p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Chart.js to generate real-time visual insights into event popularity, registration trends, and student participation metrics.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172200" y="7625035"/>
            <a:ext cx="711327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1: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of the website with details regarding events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3A5E14-1F14-CC16-16EC-B29846E04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1" y="1695151"/>
            <a:ext cx="12039600" cy="57343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727835" y="8039100"/>
            <a:ext cx="722249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2: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Events screen of the student with details regarding available events.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10217150" y="8039100"/>
            <a:ext cx="757809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3: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Registration screen of student where they can enter credentials.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DD39DF8-88FE-60FE-A31E-C047810CE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062" y="1542738"/>
            <a:ext cx="7222490" cy="610361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ACBDDFA-F284-EC5B-AF37-ED71D0EB38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7150" y="1725634"/>
            <a:ext cx="6699250" cy="58276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7">
            <a:extLst>
              <a:ext uri="{FF2B5EF4-FFF2-40B4-BE49-F238E27FC236}">
                <a16:creationId xmlns:a16="http://schemas.microsoft.com/office/drawing/2014/main" id="{9DD498BC-37A9-2E42-9033-E3A11DDEF56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3" name="Freeform 8">
              <a:extLst>
                <a:ext uri="{FF2B5EF4-FFF2-40B4-BE49-F238E27FC236}">
                  <a16:creationId xmlns:a16="http://schemas.microsoft.com/office/drawing/2014/main" id="{AB3CE64D-21A0-67D4-39D5-D83BFE25222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4" name="TextBox 9">
              <a:extLst>
                <a:ext uri="{FF2B5EF4-FFF2-40B4-BE49-F238E27FC236}">
                  <a16:creationId xmlns:a16="http://schemas.microsoft.com/office/drawing/2014/main" id="{6F822E40-596E-559F-FF34-61824CC0845F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9" name="Group 10">
            <a:extLst>
              <a:ext uri="{FF2B5EF4-FFF2-40B4-BE49-F238E27FC236}">
                <a16:creationId xmlns:a16="http://schemas.microsoft.com/office/drawing/2014/main" id="{D7797586-ED6A-5B70-3573-4D85CC303A4A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7" name="Freeform 11">
              <a:extLst>
                <a:ext uri="{FF2B5EF4-FFF2-40B4-BE49-F238E27FC236}">
                  <a16:creationId xmlns:a16="http://schemas.microsoft.com/office/drawing/2014/main" id="{40B81FE8-6B8A-E5AC-E10C-A94B4D8E1B7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8" name="TextBox 12">
              <a:extLst>
                <a:ext uri="{FF2B5EF4-FFF2-40B4-BE49-F238E27FC236}">
                  <a16:creationId xmlns:a16="http://schemas.microsoft.com/office/drawing/2014/main" id="{6EDA1A42-1D1A-B126-515C-4ACFB8BE06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6B2480EB-86B4-E416-63BD-44D655A3456D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3A3AEEB4-69F8-FF1F-CC27-5765BC036E4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5">
              <a:extLst>
                <a:ext uri="{FF2B5EF4-FFF2-40B4-BE49-F238E27FC236}">
                  <a16:creationId xmlns:a16="http://schemas.microsoft.com/office/drawing/2014/main" id="{2FC2E268-5CF9-81CE-8004-0557E469227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A89767B-B5F2-4D48-57F7-25971F55360B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A74990B8-8029-B540-2690-E3317034A83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8">
              <a:extLst>
                <a:ext uri="{FF2B5EF4-FFF2-40B4-BE49-F238E27FC236}">
                  <a16:creationId xmlns:a16="http://schemas.microsoft.com/office/drawing/2014/main" id="{0FC07E41-23DE-BAC1-299C-3189D91109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1" name="Group 19">
            <a:extLst>
              <a:ext uri="{FF2B5EF4-FFF2-40B4-BE49-F238E27FC236}">
                <a16:creationId xmlns:a16="http://schemas.microsoft.com/office/drawing/2014/main" id="{4E723E75-58E9-C680-90CC-F686A38361E6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FB93A3F2-447F-41FD-C60A-6E39503A89A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1">
              <a:extLst>
                <a:ext uri="{FF2B5EF4-FFF2-40B4-BE49-F238E27FC236}">
                  <a16:creationId xmlns:a16="http://schemas.microsoft.com/office/drawing/2014/main" id="{FB39934F-2274-62F7-CEB5-EB2999625D4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5" name="Group 22">
            <a:extLst>
              <a:ext uri="{FF2B5EF4-FFF2-40B4-BE49-F238E27FC236}">
                <a16:creationId xmlns:a16="http://schemas.microsoft.com/office/drawing/2014/main" id="{2D445D5B-EFBA-9C1B-7C08-67E38ABCF67B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2B98969-23CF-560D-4DDC-46571AA3D8C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85180EDE-7335-A355-6BBC-AC9A4C902E6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9" name="Group 25">
            <a:extLst>
              <a:ext uri="{FF2B5EF4-FFF2-40B4-BE49-F238E27FC236}">
                <a16:creationId xmlns:a16="http://schemas.microsoft.com/office/drawing/2014/main" id="{04D62CCF-3079-10AD-D7EB-DF4DF559C59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1CE05420-E5B3-DCF3-B0E6-3154A83FE8B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C216F99-A722-810F-3BA9-0C3602C3EA7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3" name="Group 28">
            <a:extLst>
              <a:ext uri="{FF2B5EF4-FFF2-40B4-BE49-F238E27FC236}">
                <a16:creationId xmlns:a16="http://schemas.microsoft.com/office/drawing/2014/main" id="{239A57D5-3802-14C1-BDCE-88BF39533251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31" name="Freeform 29">
              <a:extLst>
                <a:ext uri="{FF2B5EF4-FFF2-40B4-BE49-F238E27FC236}">
                  <a16:creationId xmlns:a16="http://schemas.microsoft.com/office/drawing/2014/main" id="{EEC98CCD-B8F0-ABD1-DC5C-68FB57AF10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2" name="TextBox 30">
              <a:extLst>
                <a:ext uri="{FF2B5EF4-FFF2-40B4-BE49-F238E27FC236}">
                  <a16:creationId xmlns:a16="http://schemas.microsoft.com/office/drawing/2014/main" id="{210FEF70-5C8F-F1D6-D1E4-293D004549B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7" name="Group 31">
            <a:extLst>
              <a:ext uri="{FF2B5EF4-FFF2-40B4-BE49-F238E27FC236}">
                <a16:creationId xmlns:a16="http://schemas.microsoft.com/office/drawing/2014/main" id="{9AEDC1BF-FFD2-04B0-AB72-691DD350AD7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5" name="Freeform 32">
              <a:extLst>
                <a:ext uri="{FF2B5EF4-FFF2-40B4-BE49-F238E27FC236}">
                  <a16:creationId xmlns:a16="http://schemas.microsoft.com/office/drawing/2014/main" id="{90C73E80-079D-B36A-D9EF-019C08A7C1F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3">
              <a:extLst>
                <a:ext uri="{FF2B5EF4-FFF2-40B4-BE49-F238E27FC236}">
                  <a16:creationId xmlns:a16="http://schemas.microsoft.com/office/drawing/2014/main" id="{3C821896-5BAF-4DE1-2E0D-B1F125539E7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9" name="Freeform 34">
            <a:extLst>
              <a:ext uri="{FF2B5EF4-FFF2-40B4-BE49-F238E27FC236}">
                <a16:creationId xmlns:a16="http://schemas.microsoft.com/office/drawing/2014/main" id="{A66A724A-A6E6-0BB8-0784-83785547969C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216D1E1-4258-C8C9-D2AF-572CF24FC4F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Box 2">
            <a:extLst>
              <a:ext uri="{FF2B5EF4-FFF2-40B4-BE49-F238E27FC236}">
                <a16:creationId xmlns:a16="http://schemas.microsoft.com/office/drawing/2014/main" id="{4AFBC88C-73E6-ED2A-1040-2484EBF2F689}"/>
              </a:ext>
            </a:extLst>
          </p:cNvPr>
          <p:cNvSpPr txBox="1"/>
          <p:nvPr/>
        </p:nvSpPr>
        <p:spPr>
          <a:xfrm>
            <a:off x="2563577" y="8309487"/>
            <a:ext cx="13097264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 dirty="0">
                <a:latin typeface="Times New Roman"/>
                <a:cs typeface="Times New Roman"/>
              </a:rPr>
              <a:t>Image 4 &amp; 5:</a:t>
            </a:r>
            <a:r>
              <a:rPr lang="en-US" sz="3200" dirty="0">
                <a:latin typeface="Times New Roman"/>
                <a:cs typeface="Times New Roman"/>
              </a:rPr>
              <a:t> Events registered and score for each event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C2082E-160C-FEB5-5CF0-71FA40295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599" y="1839943"/>
            <a:ext cx="6553821" cy="50561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B82CFE6-74AF-9E0F-2E5C-178C0FE30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3907" y="1874237"/>
            <a:ext cx="7342493" cy="5021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423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90500" y="5190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275841" y="2155190"/>
            <a:ext cx="14268368" cy="51663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Centralization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All campus activities in one unified digital platform.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Automation: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Eliminates manual paperwork and administrative errors.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Insights: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visual tracking of student engagement.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Accessibility: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24/7 mobile-friendly registration for all students.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Connectivity: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a stable internet connection to function.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Adoption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Effectiveness depends on institutional-wide usage.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Maintenance: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regular updates for data security and privacy.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Input: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time-consuming initial setup for event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50"/>
              </a:lnSpc>
            </a:pPr>
            <a:r>
              <a:rPr lang="en-US" sz="11155" b="1" i="1" dirty="0">
                <a:solidFill>
                  <a:srgbClr val="191919"/>
                </a:solidFill>
                <a:latin typeface="Gotham Bold Italics" panose="02000000000000000000"/>
                <a:ea typeface="Gotham Bold Italics" panose="02000000000000000000"/>
                <a:cs typeface="Gotham Bold Italics" panose="02000000000000000000"/>
                <a:sym typeface="Gotham Bold Italics" panose="02000000000000000000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1012</Words>
  <Application>Microsoft Office PowerPoint</Application>
  <PresentationFormat>Custom</PresentationFormat>
  <Paragraphs>224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Cambria</vt:lpstr>
      <vt:lpstr>Gotham Bold Italics</vt:lpstr>
      <vt:lpstr>Arial</vt:lpstr>
      <vt:lpstr>Gotham</vt:lpstr>
      <vt:lpstr>Times New Roman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/>
  <cp:lastModifiedBy>Swathi Naidu</cp:lastModifiedBy>
  <cp:revision>119</cp:revision>
  <dcterms:created xsi:type="dcterms:W3CDTF">2006-08-16T00:00:00Z</dcterms:created>
  <dcterms:modified xsi:type="dcterms:W3CDTF">2026-05-06T04:53:14Z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1033-12.1.0.25830</vt:lpwstr>
  </property>
  <property fmtid="{D5CDD505-2E9C-101B-9397-08002B2CF9AE}" pid="3" name="ICV">
    <vt:lpwstr>CB5CA714575146BD890F1B129058A58E_13</vt:lpwstr>
  </property>
</Properties>
</file>